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828800"/>
            <a:ext cx="10698480" cy="109728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5400" b="1">
                <a:solidFill>
                  <a:srgbClr val="E6E9EF"/>
                </a:solidFill>
                <a:latin typeface="Segoe UI"/>
              </a:rPr>
              <a:t>Policy_RAG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2880360"/>
            <a:ext cx="10698480" cy="54864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900" b="0">
                <a:solidFill>
                  <a:srgbClr val="9AA4B2"/>
                </a:solidFill>
                <a:latin typeface="Segoe UI"/>
              </a:rPr>
              <a:t>Insurance Policy Intelligence — Verified, Citation-Backed Question Answering over Indian Policy Wordings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703320"/>
            <a:ext cx="2011680" cy="45720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300" b="1">
                <a:solidFill>
                  <a:srgbClr val="35C26E"/>
                </a:solidFill>
                <a:latin typeface="Segoe UI"/>
              </a:rPr>
              <a:t>Phase 1 – 7 complete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3703320"/>
            <a:ext cx="5943600" cy="45720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300" b="0">
                <a:solidFill>
                  <a:srgbClr val="4F8CFF"/>
                </a:solidFill>
                <a:latin typeface="Segoe UI"/>
              </a:rPr>
              <a:t>RAG · Hybrid retrieval · Agentic planning · Grounding verification · FastAPI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120640"/>
            <a:ext cx="10515600" cy="45720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200" b="0">
                <a:solidFill>
                  <a:srgbClr val="9AA4B2"/>
                </a:solidFill>
                <a:latin typeface="Segoe UI"/>
              </a:rPr>
              <a:t>Authors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486400"/>
            <a:ext cx="10515600" cy="45720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500" b="0">
                <a:solidFill>
                  <a:srgbClr val="E6E9EF"/>
                </a:solidFill>
                <a:latin typeface="Segoe UI"/>
              </a:rPr>
              <a:t>Ramiyaa02  —  Policy_RAG  ·  built against the SRS (bachelor's capstone project)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56032"/>
            <a:ext cx="7315200" cy="36576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100" b="1">
                <a:solidFill>
                  <a:srgbClr val="4F8CFF"/>
                </a:solidFill>
                <a:latin typeface="Segoe UI"/>
              </a:rPr>
              <a:t>2  ·  ABSTRACT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566928"/>
            <a:ext cx="11430000" cy="64008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2800" b="1">
                <a:solidFill>
                  <a:srgbClr val="E6E9EF"/>
                </a:solidFill>
                <a:latin typeface="Segoe UI"/>
              </a:rPr>
              <a:t>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98448"/>
            <a:ext cx="11384280" cy="15240"/>
          </a:xfrm>
          <a:prstGeom prst="rect">
            <a:avLst/>
          </a:prstGeom>
          <a:solidFill>
            <a:srgbClr val="2A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E6E9EF"/>
                </a:solidFill>
                <a:latin typeface="Segoe UI"/>
              </a:rPr>
              <a:t>•  Insurance policy wordings are long, cross-referencing documents; naive LLM chatbots quote them confidently and wrongly.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6E9EF"/>
                </a:solidFill>
                <a:latin typeface="Segoe UI"/>
              </a:rPr>
              <a:t>•  Policy_RAG answers questions over 10 public insurer wordings (553 pages) with a retrieval-augmented pipeline that refuses to answer what it cannot verify.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6E9EF"/>
                </a:solidFill>
                <a:latin typeface="Segoe UI"/>
              </a:rPr>
              <a:t>•  Documents are chunked at clause boundaries with full trace metadata; retrieval fuses in-house BM25 with dense embeddings and is reranked by a cross-encoder (P@5 0.34 → 0.43, nDCG@5 0.41 → 0.55).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6E9EF"/>
                </a:solidFill>
                <a:latin typeface="Segoe UI"/>
              </a:rPr>
              <a:t>•  An agentic layer classifies each query and plans one retrieval step per product × criterion; the answer must cite the evidence blocks it was shown as [n].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6E9EF"/>
                </a:solidFill>
                <a:latin typeface="Segoe UI"/>
              </a:rPr>
              <a:t>•  A grounding layer extracts every fact claim, verifies it against the cited excerpts (token containment + number consistency), strips unsupported sentences, discloses contradictions, and abstains with a targeted clarification question when nothing can be verified.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6E9EF"/>
                </a:solidFill>
                <a:latin typeface="Segoe UI"/>
              </a:rPr>
              <a:t>•  Phase 6 evaluates baseline vs full pipelines on a frozen 45-query set with a failure taxonomy (F1–F16); Phase 7 ships the whole system as a FastAPI service with a bundled web UI.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6E9EF"/>
                </a:solidFill>
                <a:latin typeface="Segoe UI"/>
              </a:rPr>
              <a:t>•  Verification catches real model errors live: a wrong “2 years” cataract waiting-period claim was stripped and replaced by an abstention + clarification.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56032"/>
            <a:ext cx="7315200" cy="36576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100" b="1">
                <a:solidFill>
                  <a:srgbClr val="4F8CFF"/>
                </a:solidFill>
                <a:latin typeface="Segoe UI"/>
              </a:rPr>
              <a:t>3  ·  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566928"/>
            <a:ext cx="11430000" cy="64008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2800" b="1">
                <a:solidFill>
                  <a:srgbClr val="E6E9EF"/>
                </a:solidFill>
                <a:latin typeface="Segoe UI"/>
              </a:rPr>
              <a:t>Introduction &amp;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98448"/>
            <a:ext cx="11384280" cy="15240"/>
          </a:xfrm>
          <a:prstGeom prst="rect">
            <a:avLst/>
          </a:prstGeom>
          <a:solidFill>
            <a:srgbClr val="2A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486400" cy="4480560"/>
          </a:xfrm>
          <a:prstGeom prst="roundRect">
            <a:avLst/>
          </a:prstGeom>
          <a:solidFill>
            <a:srgbClr val="161B23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400" b="0">
                <a:solidFill>
                  <a:srgbClr val="E6E9EF"/>
                </a:solidFill>
                <a:latin typeface="Segoe U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120640" cy="36576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400" b="1">
                <a:solidFill>
                  <a:srgbClr val="4F8CFF"/>
                </a:solidFill>
                <a:latin typeface="Segoe U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Customers ask policy questions; answers exist but are buried across tables, waiting-period lists and exclusion clauses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Plain LLM answers hallucinate numbers and mix clauses from different policies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"What is the cataract waiting period?" — one document answers 30 days (initial), another lists it under 2-year specified-procedure waits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Wordings differ per insurer and per product; a single index blends incompatible clause sets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486400" cy="4480560"/>
          </a:xfrm>
          <a:prstGeom prst="roundRect">
            <a:avLst/>
          </a:prstGeom>
          <a:solidFill>
            <a:srgbClr val="161B23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400" b="0">
                <a:solidFill>
                  <a:srgbClr val="E6E9EF"/>
                </a:solidFill>
                <a:latin typeface="Segoe UI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83080"/>
            <a:ext cx="5120640" cy="36576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400" b="1">
                <a:solidFill>
                  <a:srgbClr val="35C26E"/>
                </a:solidFill>
                <a:latin typeface="Segoe UI"/>
              </a:rPr>
              <a:t>This project's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Traceability first: every chunk keeps document, product, section, clause ids, page span — every claim can be traced to the source PDF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Retrieval earns the context: clause-aware chunking + hybrid retrieval + cross-encoder reranking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Generation is constrained: cite [n] markers from the shown evidence or abstain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Verification is enforced downstream: three-way §8 verdicts (supported / contradicted / insufficient), never “absence = false”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Failure modes measured with a taxonomy (§15), not vibes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56032"/>
            <a:ext cx="7315200" cy="36576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100" b="1">
                <a:solidFill>
                  <a:srgbClr val="4F8CFF"/>
                </a:solidFill>
                <a:latin typeface="Segoe UI"/>
              </a:rPr>
              <a:t>4  ·  RELATED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566928"/>
            <a:ext cx="11430000" cy="64008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2800" b="1">
                <a:solidFill>
                  <a:srgbClr val="E6E9EF"/>
                </a:solidFill>
                <a:latin typeface="Segoe UI"/>
              </a:rPr>
              <a:t>Related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98448"/>
            <a:ext cx="11384280" cy="15240"/>
          </a:xfrm>
          <a:prstGeom prst="rect">
            <a:avLst/>
          </a:prstGeom>
          <a:solidFill>
            <a:srgbClr val="2A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E6E9EF"/>
                </a:solidFill>
                <a:latin typeface="Segoe UI"/>
              </a:rPr>
              <a:t>•  RAG (Lewis et al., 2020) grounds generation in retrieved passages — the baseline for this project; we extend it with verification and abstention.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6E9EF"/>
                </a:solidFill>
                <a:latin typeface="Segoe UI"/>
              </a:rPr>
              <a:t>•  BM25 (Robertson &amp; Zaragoza, 2009) is the lexical workhorse; clause ids, procedure names and defined terms that blur under embeddings still surface exactly (implemented in-house, zero extra deps).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6E9EF"/>
                </a:solidFill>
                <a:latin typeface="Segoe UI"/>
              </a:rPr>
              <a:t>•  Dense retrieval (Karpukhin et al., 2020; sentence-BERT embeddings, Reimers &amp; Gurevych, 2019) provides semantic recall — fused with BM25 by Reciprocal Rank Fusion.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6E9EF"/>
                </a:solidFill>
                <a:latin typeface="Segoe UI"/>
              </a:rPr>
              <a:t>•  Cross-encoder reranking (Nogueira &amp; Cho, 2019; ms-marco MiniLM) rescores the fused pool — the single biggest retrieval win in our ablations.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6E9EF"/>
                </a:solidFill>
                <a:latin typeface="Segoe UI"/>
              </a:rPr>
              <a:t>•  ReAct-style agent decomposition (Yao et al., 2022) shapes the agentic layer: classify → plan → retrieve per step, with plans inspectable as data.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6E9EF"/>
                </a:solidFill>
                <a:latin typeface="Segoe UI"/>
              </a:rPr>
              <a:t>•  Attribution / grounding verification draws on token-containment and number-consistency scoring; a three-way verdict (supported / contradicted / insufficient) is enforced rather than only reported.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6E9EF"/>
                </a:solidFill>
                <a:latin typeface="Segoe UI"/>
              </a:rPr>
              <a:t>•  Compared with existing systems, Policy_RAG uniquely combines clause-preserving chunk traceability, product-aware multi-step retrieval, and enforced claim-level verification with abstention in one local-first stack (Ollama, ChromaDB, FastAPI).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56032"/>
            <a:ext cx="7315200" cy="36576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100" b="1">
                <a:solidFill>
                  <a:srgbClr val="4F8CFF"/>
                </a:solidFill>
                <a:latin typeface="Segoe UI"/>
              </a:rPr>
              <a:t>5  ·  DATASET, BENCHMARKS &amp; PROMPT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566928"/>
            <a:ext cx="11430000" cy="64008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2800" b="1">
                <a:solidFill>
                  <a:srgbClr val="E6E9EF"/>
                </a:solidFill>
                <a:latin typeface="Segoe UI"/>
              </a:rPr>
              <a:t>Dataset, Benchmarks &amp; Prompt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98448"/>
            <a:ext cx="11384280" cy="15240"/>
          </a:xfrm>
          <a:prstGeom prst="rect">
            <a:avLst/>
          </a:prstGeom>
          <a:solidFill>
            <a:srgbClr val="2A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66160" cy="4480560"/>
          </a:xfrm>
          <a:prstGeom prst="roundRect">
            <a:avLst/>
          </a:prstGeom>
          <a:solidFill>
            <a:srgbClr val="161B23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400" b="0">
                <a:solidFill>
                  <a:srgbClr val="E6E9EF"/>
                </a:solidFill>
                <a:latin typeface="Segoe U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3200400" cy="36576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400" b="1">
                <a:solidFill>
                  <a:srgbClr val="4F8CFF"/>
                </a:solidFill>
                <a:latin typeface="Segoe UI"/>
              </a:rPr>
              <a:t>Corpus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E6E9EF"/>
                </a:solidFill>
                <a:latin typeface="Segoe UI"/>
              </a:rPr>
              <a:t>•  10 public Indian insurer policy wordings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6E9EF"/>
                </a:solidFill>
                <a:latin typeface="Segoe UI"/>
              </a:rPr>
              <a:t>•  553 pages · 551 native-text, 1 OCR page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6E9EF"/>
                </a:solidFill>
                <a:latin typeface="Segoe UI"/>
              </a:rPr>
              <a:t>•  1,504 structure-aware chunks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6E9EF"/>
                </a:solidFill>
                <a:latin typeface="Segoe UI"/>
              </a:rPr>
              <a:t>•  clause / heading boundaries, tables kept separate as table chunks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6E9EF"/>
                </a:solidFill>
                <a:latin typeface="Segoe UI"/>
              </a:rPr>
              <a:t>•  every chunk: product, section, clause ids, page span, portable source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566160" cy="4480560"/>
          </a:xfrm>
          <a:prstGeom prst="roundRect">
            <a:avLst/>
          </a:prstGeom>
          <a:solidFill>
            <a:srgbClr val="161B23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400" b="0">
                <a:solidFill>
                  <a:srgbClr val="E6E9EF"/>
                </a:solidFill>
                <a:latin typeface="Segoe UI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783080"/>
            <a:ext cx="3200400" cy="36576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400" b="1">
                <a:solidFill>
                  <a:srgbClr val="4F8CFF"/>
                </a:solidFill>
                <a:latin typeface="Segoe UI"/>
              </a:rPr>
              <a:t>Frozen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9456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E6E9EF"/>
                </a:solidFill>
                <a:latin typeface="Segoe UI"/>
              </a:rPr>
              <a:t>•  45 queries: 43 answerable + 2 out-of-domain probes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6E9EF"/>
                </a:solidFill>
                <a:latin typeface="Segoe UI"/>
              </a:rPr>
              <a:t>•  6 categories mirroring the SRS test taxonomy (waiting periods, exclusions, eligibility, claims, comparisons, OOD)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6E9EF"/>
                </a:solidFill>
                <a:latin typeface="Segoe UI"/>
              </a:rPr>
              <a:t>•  chunk-level qrels (ground truth), single-annotator with a relevance audit note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6E9EF"/>
                </a:solidFill>
                <a:latin typeface="Segoe UI"/>
              </a:rPr>
              <a:t>•  fixed label set across every compared system → like-for-like baseline/ablation runs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611880" cy="4480560"/>
          </a:xfrm>
          <a:prstGeom prst="roundRect">
            <a:avLst/>
          </a:prstGeom>
          <a:solidFill>
            <a:srgbClr val="161B23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400" b="0">
                <a:solidFill>
                  <a:srgbClr val="E6E9EF"/>
                </a:solidFill>
                <a:latin typeface="Segoe UI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783080"/>
            <a:ext cx="3291840" cy="36576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400" b="1">
                <a:solidFill>
                  <a:srgbClr val="4F8CFF"/>
                </a:solidFill>
                <a:latin typeface="Segoe UI"/>
              </a:rPr>
              <a:t>Prompt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94560"/>
            <a:ext cx="3383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E6E9EF"/>
                </a:solidFill>
                <a:latin typeface="Segoe UI"/>
              </a:rPr>
              <a:t>•  numbered evidence blocks, one per retrieved excerpt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6E9EF"/>
                </a:solidFill>
                <a:latin typeface="Segoe UI"/>
              </a:rPr>
              <a:t>•  model must cite blocks as [n] — unmarked facts are unverifiable by construction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6E9EF"/>
                </a:solidFill>
                <a:latin typeface="Segoe UI"/>
              </a:rPr>
              <a:t>•  explicit abstain instruction when the corpus lacks the answer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6E9EF"/>
                </a:solidFill>
                <a:latin typeface="Segoe UI"/>
              </a:rPr>
              <a:t>•  comparison prompts: per-policy sections, facts separated from conclusions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6E9EF"/>
                </a:solidFill>
                <a:latin typeface="Segoe UI"/>
              </a:rPr>
              <a:t>•  low temperature (0.2) for factual consistency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56032"/>
            <a:ext cx="7315200" cy="36576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100" b="1">
                <a:solidFill>
                  <a:srgbClr val="4F8CFF"/>
                </a:solidFill>
                <a:latin typeface="Segoe UI"/>
              </a:rPr>
              <a:t>6  ·  SYSTEM ARCHITECTURE AND METHODS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566928"/>
            <a:ext cx="11430000" cy="64008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2800" b="1">
                <a:solidFill>
                  <a:srgbClr val="E6E9EF"/>
                </a:solidFill>
                <a:latin typeface="Segoe UI"/>
              </a:rPr>
              <a:t>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98448"/>
            <a:ext cx="11384280" cy="15240"/>
          </a:xfrm>
          <a:prstGeom prst="rect">
            <a:avLst/>
          </a:prstGeom>
          <a:solidFill>
            <a:srgbClr val="2A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377440" cy="32004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100" b="1">
                <a:solidFill>
                  <a:srgbClr val="35C26E"/>
                </a:solidFill>
                <a:latin typeface="Segoe UI"/>
              </a:rPr>
              <a:t>OFFLINE BUILD (once per corpus)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2121408" cy="868680"/>
          </a:xfrm>
          <a:prstGeom prst="roundRect">
            <a:avLst/>
          </a:prstGeom>
          <a:solidFill>
            <a:srgbClr val="161B23"/>
          </a:solidFill>
          <a:ln w="12700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E6E9EF"/>
                </a:solidFill>
                <a:latin typeface="Segoe UI"/>
              </a:rPr>
              <a:t/>
            </a:r>
            <a:r>
              <a:rPr sz="1150" b="1">
                <a:solidFill>
                  <a:srgbClr val="E6E9EF"/>
                </a:solidFill>
                <a:latin typeface="Segoe UI"/>
              </a:rPr>
              <a:t>PDFs</a:t>
            </a:r>
          </a:p>
          <a:p>
            <a:pPr algn="ctr"/>
            <a:r>
              <a:rPr sz="900">
                <a:solidFill>
                  <a:srgbClr val="9AA4B2"/>
                </a:solidFill>
                <a:latin typeface="Segoe UI"/>
              </a:rPr>
              <a:t>rag_policy_dataset/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15184" y="2308860"/>
            <a:ext cx="310895" cy="0"/>
          </a:xfrm>
          <a:prstGeom prst="line">
            <a:avLst/>
          </a:prstGeom>
          <a:ln w="27940">
            <a:solidFill>
              <a:srgbClr val="4F8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62656" y="1874519"/>
            <a:ext cx="2121408" cy="868680"/>
          </a:xfrm>
          <a:prstGeom prst="roundRect">
            <a:avLst/>
          </a:prstGeom>
          <a:solidFill>
            <a:srgbClr val="161B23"/>
          </a:solidFill>
          <a:ln w="12700">
            <a:solidFill>
              <a:srgbClr val="35C2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E6E9EF"/>
                </a:solidFill>
                <a:latin typeface="Segoe UI"/>
              </a:rPr>
              <a:t/>
            </a:r>
            <a:r>
              <a:rPr sz="1150" b="1">
                <a:solidFill>
                  <a:srgbClr val="E6E9EF"/>
                </a:solidFill>
                <a:latin typeface="Segoe UI"/>
              </a:rPr>
              <a:t>Phase 1</a:t>
            </a:r>
          </a:p>
          <a:p>
            <a:pPr algn="ctr"/>
            <a:r>
              <a:rPr sz="900">
                <a:solidFill>
                  <a:srgbClr val="9AA4B2"/>
                </a:solidFill>
                <a:latin typeface="Segoe UI"/>
              </a:rPr>
              <a:t>normalize → DOC-0XX.json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20640" y="2308860"/>
            <a:ext cx="310896" cy="0"/>
          </a:xfrm>
          <a:prstGeom prst="line">
            <a:avLst/>
          </a:prstGeom>
          <a:ln w="27940">
            <a:solidFill>
              <a:srgbClr val="4F8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68112" y="1874519"/>
            <a:ext cx="2121408" cy="868680"/>
          </a:xfrm>
          <a:prstGeom prst="roundRect">
            <a:avLst/>
          </a:prstGeom>
          <a:solidFill>
            <a:srgbClr val="161B23"/>
          </a:solidFill>
          <a:ln w="12700">
            <a:solidFill>
              <a:srgbClr val="35C2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E6E9EF"/>
                </a:solidFill>
                <a:latin typeface="Segoe UI"/>
              </a:rPr>
              <a:t/>
            </a:r>
            <a:r>
              <a:rPr sz="1150" b="1">
                <a:solidFill>
                  <a:srgbClr val="E6E9EF"/>
                </a:solidFill>
                <a:latin typeface="Segoe UI"/>
              </a:rPr>
              <a:t>Phase 2</a:t>
            </a:r>
          </a:p>
          <a:p>
            <a:pPr algn="ctr"/>
            <a:r>
              <a:rPr sz="900">
                <a:solidFill>
                  <a:srgbClr val="9AA4B2"/>
                </a:solidFill>
                <a:latin typeface="Segoe UI"/>
              </a:rPr>
              <a:t>clause-preserving chunks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26095" y="2308860"/>
            <a:ext cx="310897" cy="0"/>
          </a:xfrm>
          <a:prstGeom prst="line">
            <a:avLst/>
          </a:prstGeom>
          <a:ln w="27940">
            <a:solidFill>
              <a:srgbClr val="4F8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73567" y="1874519"/>
            <a:ext cx="2121408" cy="868680"/>
          </a:xfrm>
          <a:prstGeom prst="roundRect">
            <a:avLst/>
          </a:prstGeom>
          <a:solidFill>
            <a:srgbClr val="161B23"/>
          </a:solidFill>
          <a:ln w="12700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E6E9EF"/>
                </a:solidFill>
                <a:latin typeface="Segoe UI"/>
              </a:rPr>
              <a:t/>
            </a:r>
            <a:r>
              <a:rPr sz="1150" b="1">
                <a:solidFill>
                  <a:srgbClr val="E6E9EF"/>
                </a:solidFill>
                <a:latin typeface="Segoe UI"/>
              </a:rPr>
              <a:t>Embed</a:t>
            </a:r>
          </a:p>
          <a:p>
            <a:pPr algn="ctr"/>
            <a:r>
              <a:rPr sz="900">
                <a:solidFill>
                  <a:srgbClr val="9AA4B2"/>
                </a:solidFill>
                <a:latin typeface="Segoe UI"/>
              </a:rPr>
              <a:t>sentence-transformers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131551" y="2308860"/>
            <a:ext cx="310897" cy="0"/>
          </a:xfrm>
          <a:prstGeom prst="line">
            <a:avLst/>
          </a:prstGeom>
          <a:ln w="27940">
            <a:solidFill>
              <a:srgbClr val="4F8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479024" y="1874519"/>
            <a:ext cx="2121408" cy="868680"/>
          </a:xfrm>
          <a:prstGeom prst="roundRect">
            <a:avLst/>
          </a:prstGeom>
          <a:solidFill>
            <a:srgbClr val="161B23"/>
          </a:solidFill>
          <a:ln w="12700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E6E9EF"/>
                </a:solidFill>
                <a:latin typeface="Segoe UI"/>
              </a:rPr>
              <a:t/>
            </a:r>
            <a:r>
              <a:rPr sz="1150" b="1">
                <a:solidFill>
                  <a:srgbClr val="E6E9EF"/>
                </a:solidFill>
                <a:latin typeface="Segoe UI"/>
              </a:rPr>
              <a:t>Indexes</a:t>
            </a:r>
          </a:p>
          <a:p>
            <a:pPr algn="ctr"/>
            <a:r>
              <a:rPr sz="900">
                <a:solidFill>
                  <a:srgbClr val="9AA4B2"/>
                </a:solidFill>
                <a:latin typeface="Segoe UI"/>
              </a:rPr>
              <a:t>ChromaDB + BM25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63240"/>
            <a:ext cx="4206240" cy="32004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100" b="1">
                <a:solidFill>
                  <a:srgbClr val="4F8CFF"/>
                </a:solidFill>
                <a:latin typeface="Segoe UI"/>
              </a:rPr>
              <a:t>QUERY TIME — AGENTIC VERIFIED PIPELINE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74720"/>
            <a:ext cx="1773936" cy="1051560"/>
          </a:xfrm>
          <a:prstGeom prst="roundRect">
            <a:avLst/>
          </a:prstGeom>
          <a:solidFill>
            <a:srgbClr val="161B23"/>
          </a:solidFill>
          <a:ln w="12700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E6E9EF"/>
                </a:solidFill>
                <a:latin typeface="Segoe UI"/>
              </a:rPr>
              <a:t/>
            </a:r>
            <a:r>
              <a:rPr sz="1100" b="1">
                <a:solidFill>
                  <a:srgbClr val="E6E9EF"/>
                </a:solidFill>
                <a:latin typeface="Segoe UI"/>
              </a:rPr>
              <a:t>Agent 1</a:t>
            </a:r>
          </a:p>
          <a:p>
            <a:pPr algn="ctr"/>
            <a:r>
              <a:rPr sz="850">
                <a:solidFill>
                  <a:srgbClr val="9AA4B2"/>
                </a:solidFill>
                <a:latin typeface="Segoe UI"/>
              </a:rPr>
              <a:t>QueryAnalyzer classify → type / products / criteria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58568" y="4000500"/>
            <a:ext cx="256032" cy="0"/>
          </a:xfrm>
          <a:prstGeom prst="line">
            <a:avLst/>
          </a:prstGeom>
          <a:ln w="27940">
            <a:solidFill>
              <a:srgbClr val="4F8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546604" y="3474720"/>
            <a:ext cx="1773936" cy="1051560"/>
          </a:xfrm>
          <a:prstGeom prst="roundRect">
            <a:avLst/>
          </a:prstGeom>
          <a:solidFill>
            <a:srgbClr val="161B23"/>
          </a:solidFill>
          <a:ln w="12700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E6E9EF"/>
                </a:solidFill>
                <a:latin typeface="Segoe UI"/>
              </a:rPr>
              <a:t/>
            </a:r>
            <a:r>
              <a:rPr sz="1100" b="1">
                <a:solidFill>
                  <a:srgbClr val="E6E9EF"/>
                </a:solidFill>
                <a:latin typeface="Segoe UI"/>
              </a:rPr>
              <a:t>Agent 2</a:t>
            </a:r>
          </a:p>
          <a:p>
            <a:pPr algn="ctr"/>
            <a:r>
              <a:rPr sz="850">
                <a:solidFill>
                  <a:srgbClr val="9AA4B2"/>
                </a:solidFill>
                <a:latin typeface="Segoe UI"/>
              </a:rPr>
              <a:t>RetrievalPlanner → steps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347972" y="4000500"/>
            <a:ext cx="256031" cy="0"/>
          </a:xfrm>
          <a:prstGeom prst="line">
            <a:avLst/>
          </a:prstGeom>
          <a:ln w="27940">
            <a:solidFill>
              <a:srgbClr val="4F8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36008" y="3474720"/>
            <a:ext cx="1773936" cy="1051560"/>
          </a:xfrm>
          <a:prstGeom prst="roundRect">
            <a:avLst/>
          </a:prstGeom>
          <a:solidFill>
            <a:srgbClr val="161B23"/>
          </a:solidFill>
          <a:ln w="12700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E6E9EF"/>
                </a:solidFill>
                <a:latin typeface="Segoe UI"/>
              </a:rPr>
              <a:t/>
            </a:r>
            <a:r>
              <a:rPr sz="1100" b="1">
                <a:solidFill>
                  <a:srgbClr val="E6E9EF"/>
                </a:solidFill>
                <a:latin typeface="Segoe UI"/>
              </a:rPr>
              <a:t>Agent 3</a:t>
            </a:r>
          </a:p>
          <a:p>
            <a:pPr algn="ctr"/>
            <a:r>
              <a:rPr sz="850">
                <a:solidFill>
                  <a:srgbClr val="9AA4B2"/>
                </a:solidFill>
                <a:latin typeface="Segoe UI"/>
              </a:rPr>
              <a:t>PlanExecutor hybrid + rerank (per step)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37376" y="4000500"/>
            <a:ext cx="256031" cy="0"/>
          </a:xfrm>
          <a:prstGeom prst="line">
            <a:avLst/>
          </a:prstGeom>
          <a:ln w="27940">
            <a:solidFill>
              <a:srgbClr val="4F8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725412" y="3474720"/>
            <a:ext cx="1773936" cy="1051560"/>
          </a:xfrm>
          <a:prstGeom prst="roundRect">
            <a:avLst/>
          </a:prstGeom>
          <a:solidFill>
            <a:srgbClr val="161B23"/>
          </a:solidFill>
          <a:ln w="12700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E6E9EF"/>
                </a:solidFill>
                <a:latin typeface="Segoe UI"/>
              </a:rPr>
              <a:t/>
            </a:r>
            <a:r>
              <a:rPr sz="1100" b="1">
                <a:solidFill>
                  <a:srgbClr val="E6E9EF"/>
                </a:solidFill>
                <a:latin typeface="Segoe UI"/>
              </a:rPr>
              <a:t>Agent 4/6</a:t>
            </a:r>
          </a:p>
          <a:p>
            <a:pPr algn="ctr"/>
            <a:r>
              <a:rPr sz="850">
                <a:solidFill>
                  <a:srgbClr val="9AA4B2"/>
                </a:solidFill>
                <a:latin typeface="Segoe UI"/>
              </a:rPr>
              <a:t>cite-as-[n] generation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26780" y="4000500"/>
            <a:ext cx="256032" cy="0"/>
          </a:xfrm>
          <a:prstGeom prst="line">
            <a:avLst/>
          </a:prstGeom>
          <a:ln w="27940">
            <a:solidFill>
              <a:srgbClr val="4F8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814816" y="3474720"/>
            <a:ext cx="1773936" cy="1051560"/>
          </a:xfrm>
          <a:prstGeom prst="roundRect">
            <a:avLst/>
          </a:prstGeom>
          <a:solidFill>
            <a:srgbClr val="161B23"/>
          </a:solidFill>
          <a:ln w="12700">
            <a:solidFill>
              <a:srgbClr val="E0A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E6E9EF"/>
                </a:solidFill>
                <a:latin typeface="Segoe UI"/>
              </a:rPr>
              <a:t/>
            </a:r>
            <a:r>
              <a:rPr sz="1100" b="1">
                <a:solidFill>
                  <a:srgbClr val="E6E9EF"/>
                </a:solidFill>
                <a:latin typeface="Segoe UI"/>
              </a:rPr>
              <a:t>Agent 5</a:t>
            </a:r>
          </a:p>
          <a:p>
            <a:pPr algn="ctr"/>
            <a:r>
              <a:rPr sz="850">
                <a:solidFill>
                  <a:srgbClr val="9AA4B2"/>
                </a:solidFill>
                <a:latin typeface="Segoe UI"/>
              </a:rPr>
              <a:t>verify claims S / C / 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616184" y="4000500"/>
            <a:ext cx="256032" cy="0"/>
          </a:xfrm>
          <a:prstGeom prst="line">
            <a:avLst/>
          </a:prstGeom>
          <a:ln w="27940">
            <a:solidFill>
              <a:srgbClr val="4F8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904220" y="3474720"/>
            <a:ext cx="1773936" cy="1051560"/>
          </a:xfrm>
          <a:prstGeom prst="roundRect">
            <a:avLst/>
          </a:prstGeom>
          <a:solidFill>
            <a:srgbClr val="161B23"/>
          </a:solidFill>
          <a:ln w="12700">
            <a:solidFill>
              <a:srgbClr val="E05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E6E9EF"/>
                </a:solidFill>
                <a:latin typeface="Segoe UI"/>
              </a:rPr>
              <a:t/>
            </a:r>
            <a:r>
              <a:rPr sz="1100" b="1">
                <a:solidFill>
                  <a:srgbClr val="E6E9EF"/>
                </a:solidFill>
                <a:latin typeface="Segoe UI"/>
              </a:rPr>
              <a:t>Handler</a:t>
            </a:r>
          </a:p>
          <a:p>
            <a:pPr algn="ctr"/>
            <a:r>
              <a:rPr sz="850">
                <a:solidFill>
                  <a:srgbClr val="9AA4B2"/>
                </a:solidFill>
                <a:latin typeface="Segoe UI"/>
              </a:rPr>
              <a:t>strip · note · abstain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892040"/>
            <a:ext cx="3749039" cy="640080"/>
          </a:xfrm>
          <a:prstGeom prst="roundRect">
            <a:avLst/>
          </a:prstGeom>
          <a:solidFill>
            <a:srgbClr val="161B23"/>
          </a:solidFill>
          <a:ln w="12700">
            <a:solidFill>
              <a:srgbClr val="35C2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E6E9EF"/>
                </a:solidFill>
                <a:latin typeface="Segoe UI"/>
              </a:rPr>
              <a:t/>
            </a:r>
            <a:r>
              <a:rPr sz="1200" b="1">
                <a:solidFill>
                  <a:srgbClr val="E6E9EF"/>
                </a:solidFill>
                <a:latin typeface="Segoe UI"/>
              </a:rPr>
              <a:t>verified answer + citations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4892040"/>
            <a:ext cx="3749039" cy="640080"/>
          </a:xfrm>
          <a:prstGeom prst="roundRect">
            <a:avLst/>
          </a:prstGeom>
          <a:solidFill>
            <a:srgbClr val="161B23"/>
          </a:solidFill>
          <a:ln w="12700">
            <a:solidFill>
              <a:srgbClr val="E0A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E6E9EF"/>
                </a:solidFill>
                <a:latin typeface="Segoe UI"/>
              </a:rPr>
              <a:t/>
            </a:r>
            <a:r>
              <a:rPr sz="1200" b="1">
                <a:solidFill>
                  <a:srgbClr val="E6E9EF"/>
                </a:solidFill>
                <a:latin typeface="Segoe UI"/>
              </a:rPr>
              <a:t>abstention + targeted clarification question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2377440" y="4526280"/>
            <a:ext cx="3749040" cy="320040"/>
          </a:xfrm>
          <a:prstGeom prst="line">
            <a:avLst/>
          </a:prstGeom>
          <a:ln w="27940">
            <a:solidFill>
              <a:srgbClr val="35C2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8412480" y="4526280"/>
            <a:ext cx="2194560" cy="320040"/>
          </a:xfrm>
          <a:prstGeom prst="line">
            <a:avLst/>
          </a:prstGeom>
          <a:ln w="27940">
            <a:solidFill>
              <a:srgbClr val="E0A6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57200" y="5806440"/>
            <a:ext cx="11247120" cy="685800"/>
          </a:xfrm>
          <a:prstGeom prst="roundRect">
            <a:avLst/>
          </a:prstGeom>
          <a:solidFill>
            <a:srgbClr val="161B23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250" b="0">
                <a:solidFill>
                  <a:srgbClr val="9AA4B2"/>
                </a:solidFill>
                <a:latin typeface="Segoe UI"/>
              </a:rPr>
              <a:t>One code path: the same VerifiedAgent.run() executes on the CLI (run_phase5.py), in the evaluator (run_phase6.py) and over HTTP (/api/query) — answers shown in the UI are exactly what the evaluator scores.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56032"/>
            <a:ext cx="7315200" cy="36576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100" b="1">
                <a:solidFill>
                  <a:srgbClr val="4F8CFF"/>
                </a:solidFill>
                <a:latin typeface="Segoe UI"/>
              </a:rPr>
              <a:t>6.1  ·  LLM AND MODEL SELECTION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566928"/>
            <a:ext cx="11430000" cy="64008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2800" b="1">
                <a:solidFill>
                  <a:srgbClr val="E6E9EF"/>
                </a:solidFill>
                <a:latin typeface="Segoe UI"/>
              </a:rPr>
              <a:t>LLM and Model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98448"/>
            <a:ext cx="11384280" cy="15240"/>
          </a:xfrm>
          <a:prstGeom prst="rect">
            <a:avLst/>
          </a:prstGeom>
          <a:solidFill>
            <a:srgbClr val="2A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6949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>
                <a:solidFill>
                  <a:srgbClr val="E6E9EF"/>
                </a:solidFill>
                <a:latin typeface="Segoe UI"/>
              </a:rPr>
              <a:t>•  Generation: llama3.2:3b served locally by Ollama — no API key, no data leaves the machine, $0/query (tokens recorded as the cost proxy).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E6E9EF"/>
                </a:solidFill>
                <a:latin typeface="Segoe UI"/>
              </a:rPr>
              <a:t>•  Why local + small: SRS privacy constraints (policy data stays local), env-friendly, and every phase must rerun unchanged offline with --no-llm.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E6E9EF"/>
                </a:solidFill>
                <a:latin typeface="Segoe UI"/>
              </a:rPr>
              <a:t>•  Extractive fallback (AnswerGenerator vs ExtractiveGenerator): when Ollama is down the system still answers by quoting retrieved excerpts — evaluation never blocks.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E6E9EF"/>
                </a:solidFill>
                <a:latin typeface="Segoe UI"/>
              </a:rPr>
              <a:t>•  Configuration is a chain: phase5 → phase4 → phase3 → phase2 JSON; model, temperature (0.2), num_predict, timeout all live there.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E6E9EF"/>
                </a:solidFill>
                <a:latin typeface="Segoe UI"/>
              </a:rPr>
              <a:t>•  Verification second pass runs a separate zero-temperature fast call (num_predict=64) so it cannot inherit verbosity.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E6E9EF"/>
                </a:solidFill>
                <a:latin typeface="Segoe UI"/>
              </a:rPr>
              <a:t>•  Embeddings: all-MiniLM-L6-v2, L2-normalized so cosine = dot product; swappable per FR-005.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E6E9EF"/>
                </a:solidFill>
                <a:latin typeface="Segoe UI"/>
              </a:rPr>
              <a:t>•  Reranker: cross-encoder/ms-marco-MiniLM-L-6-v2 with a model-free lexical fallback (FR / NFR-008 replaceable-reranker interface).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645920"/>
            <a:ext cx="3977639" cy="1920240"/>
          </a:xfrm>
          <a:prstGeom prst="roundRect">
            <a:avLst/>
          </a:prstGeom>
          <a:solidFill>
            <a:srgbClr val="1D232E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400" b="0">
                <a:solidFill>
                  <a:srgbClr val="E6E9EF"/>
                </a:solidFill>
                <a:latin typeface="Segoe UI"/>
              </a:rPr>
              <a:t/>
            </a:r>
            <a:r>
              <a:rPr sz="1000">
                <a:solidFill>
                  <a:srgbClr val="CFE3FF"/>
                </a:solidFill>
                <a:latin typeface="Consolas"/>
              </a:rPr>
              <a:t>llm = OllamaLLM(</a:t>
            </a:r>
          </a:p>
          <a:p>
            <a:r>
              <a:rPr sz="1000">
                <a:solidFill>
                  <a:srgbClr val="CFE3FF"/>
                </a:solidFill>
                <a:latin typeface="Consolas"/>
              </a:rPr>
              <a:t>    model="llama3.2:3b",</a:t>
            </a:r>
          </a:p>
          <a:p>
            <a:r>
              <a:rPr sz="1000">
                <a:solidFill>
                  <a:srgbClr val="CFE3FF"/>
                </a:solidFill>
                <a:latin typeface="Consolas"/>
              </a:rPr>
              <a:t>    temperature=0.2,</a:t>
            </a:r>
          </a:p>
          <a:p>
            <a:r>
              <a:rPr sz="1000">
                <a:solidFill>
                  <a:srgbClr val="CFE3FF"/>
                </a:solidFill>
                <a:latin typeface="Consolas"/>
              </a:rPr>
              <a:t>    num_predict=512,</a:t>
            </a:r>
          </a:p>
          <a:p>
            <a:r>
              <a:rPr sz="1000">
                <a:solidFill>
                  <a:srgbClr val="CFE3FF"/>
                </a:solidFill>
                <a:latin typeface="Consolas"/>
              </a:rPr>
              <a:t>    timeout_seconds=180,</a:t>
            </a:r>
          </a:p>
          <a:p>
            <a:r>
              <a:rPr sz="1000">
                <a:solidFill>
                  <a:srgbClr val="CFE3FF"/>
                </a:solidFill>
                <a:latin typeface="Consolas"/>
              </a:rPr>
              <a:t>)</a:t>
            </a:r>
          </a:p>
          <a:p>
            <a:r>
              <a:rPr sz="1000">
                <a:solidFill>
                  <a:srgbClr val="CFE3FF"/>
                </a:solidFill>
                <a:latin typeface="Consolas"/>
              </a:rPr>
              <a:t>llm_ready = llm.is_available()</a:t>
            </a:r>
          </a:p>
          <a:p>
            <a:r>
              <a:rPr sz="1000">
                <a:solidFill>
                  <a:srgbClr val="CFE3FF"/>
                </a:solidFill>
                <a:latin typeface="Consolas"/>
              </a:rPr>
              <a:t>generator = (AnswerGenerator(llm)</a:t>
            </a:r>
          </a:p>
          <a:p>
            <a:r>
              <a:rPr sz="1000">
                <a:solidFill>
                  <a:srgbClr val="CFE3FF"/>
                </a:solidFill>
                <a:latin typeface="Consolas"/>
              </a:rPr>
              <a:t>             if llm_ready else ExtractiveGenerator())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3794760"/>
            <a:ext cx="3977639" cy="2286000"/>
          </a:xfrm>
          <a:prstGeom prst="roundRect">
            <a:avLst/>
          </a:prstGeom>
          <a:solidFill>
            <a:srgbClr val="161B23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200" b="0">
                <a:solidFill>
                  <a:srgbClr val="9AA4B2"/>
                </a:solidFill>
                <a:latin typeface="Segoe UI"/>
              </a:rPr>
              <a:t>The Ollama client records per-call + cumulative token counts (NFR-005), which the Phase 6 evaluator snapshots per query — so token/cost records exist even where no API cost applies.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56032"/>
            <a:ext cx="7315200" cy="36576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100" b="1">
                <a:solidFill>
                  <a:srgbClr val="4F8CFF"/>
                </a:solidFill>
                <a:latin typeface="Segoe UI"/>
              </a:rPr>
              <a:t>6.3  ·  AGENTIC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566928"/>
            <a:ext cx="11430000" cy="64008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2800" b="1">
                <a:solidFill>
                  <a:srgbClr val="E6E9EF"/>
                </a:solidFill>
                <a:latin typeface="Segoe UI"/>
              </a:rPr>
              <a:t>Agentic Design — six specialized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98448"/>
            <a:ext cx="11384280" cy="15240"/>
          </a:xfrm>
          <a:prstGeom prst="rect">
            <a:avLst/>
          </a:prstGeom>
          <a:solidFill>
            <a:srgbClr val="2A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00200"/>
          <a:ext cx="6949439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6854"/>
                <a:gridCol w="5142585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E6E9EF"/>
                          </a:solidFill>
                          <a:latin typeface="Segoe UI"/>
                        </a:rPr>
                        <a:t>Agent</a:t>
                      </a:r>
                    </a:p>
                  </a:txBody>
                  <a:tcPr marL="54864" marR="54864" marT="18288" marB="18288">
                    <a:solidFill>
                      <a:srgbClr val="1D23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E6E9EF"/>
                          </a:solidFill>
                          <a:latin typeface="Segoe UI"/>
                        </a:rPr>
                        <a:t>Responsibility (SRS FR)</a:t>
                      </a:r>
                    </a:p>
                  </a:txBody>
                  <a:tcPr marL="54864" marR="54864" marT="18288" marB="18288">
                    <a:solidFill>
                      <a:srgbClr val="1D232E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9EF"/>
                          </a:solidFill>
                          <a:latin typeface="Segoe UI"/>
                        </a:rPr>
                        <a:t>1 · QueryAnalyzer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rules-first classification (FR-007) + requirement slots (FR-013); LLM only at low confidence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9EF"/>
                          </a:solidFill>
                          <a:latin typeface="Segoe UI"/>
                        </a:rPr>
                        <a:t>2 · RetrievalPlanner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plan of steps; comparison = one step per product × criterion (FR-014)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9EF"/>
                          </a:solidFill>
                          <a:latin typeface="Segoe UI"/>
                        </a:rPr>
                        <a:t>3 · PlanExecutor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runs Phase 3 hybrid retriever per step; global evidence budget (FR-008/009)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9EF"/>
                          </a:solidFill>
                          <a:latin typeface="Segoe UI"/>
                        </a:rPr>
                        <a:t>4/6 · Generator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cite-as-[n] grounded answers; per-policy comparison sections (FR-012)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9EF"/>
                          </a:solidFill>
                          <a:latin typeface="Segoe UI"/>
                        </a:rPr>
                        <a:t>5 · Validator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three-way §8 verification of every claim (FR-015–018)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9EF"/>
                          </a:solidFill>
                          <a:latin typeface="Segoe UI"/>
                        </a:rPr>
                        <a:t>Handler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strip unsupported, disclose contradictions, abstain + clarify (O8)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0" y="1600200"/>
            <a:ext cx="3977639" cy="1828800"/>
          </a:xfrm>
          <a:prstGeom prst="roundRect">
            <a:avLst/>
          </a:prstGeom>
          <a:solidFill>
            <a:srgbClr val="161B23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400" b="0">
                <a:solidFill>
                  <a:srgbClr val="E6E9EF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737360"/>
            <a:ext cx="3703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E6E9EF"/>
                </a:solidFill>
                <a:latin typeface="Segoe UI"/>
              </a:rPr>
              <a:t>•  Short-circuits: out-of-domain (FR-019) → scope statement, no retrieval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E6E9EF"/>
                </a:solidFill>
                <a:latin typeface="Segoe UI"/>
              </a:rPr>
              <a:t>•  Underspecified (FR-018) → one targeted clarification question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3611880"/>
            <a:ext cx="3977639" cy="2514600"/>
          </a:xfrm>
          <a:prstGeom prst="roundRect">
            <a:avLst/>
          </a:prstGeom>
          <a:solidFill>
            <a:srgbClr val="1D232E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400" b="0">
                <a:solidFill>
                  <a:srgbClr val="E6E9EF"/>
                </a:solidFill>
                <a:latin typeface="Segoe UI"/>
              </a:rPr>
              <a:t/>
            </a:r>
            <a:r>
              <a:rPr sz="950">
                <a:solidFill>
                  <a:srgbClr val="9AA4B2"/>
                </a:solidFill>
                <a:latin typeface="Consolas"/>
              </a:rPr>
              <a:t># comparison plan (src/agent/planner.py)</a:t>
            </a:r>
          </a:p>
          <a:p>
            <a:r>
              <a:rPr sz="950">
                <a:solidFill>
                  <a:srgbClr val="CFE3FF"/>
                </a:solidFill>
                <a:latin typeface="Consolas"/>
              </a:rPr>
              <a:t>for product in products:</a:t>
            </a:r>
          </a:p>
          <a:p>
            <a:r>
              <a:rPr sz="950">
                <a:solidFill>
                  <a:srgbClr val="CFE3FF"/>
                </a:solidFill>
                <a:latin typeface="Consolas"/>
              </a:rPr>
              <a:t>    for criterion in criteria:</a:t>
            </a:r>
          </a:p>
          <a:p>
            <a:r>
              <a:rPr sz="950">
                <a:solidFill>
                  <a:srgbClr val="CFE3FF"/>
                </a:solidFill>
                <a:latin typeface="Consolas"/>
              </a:rPr>
              <a:t>        steps.append(PlanStep(</a:t>
            </a:r>
          </a:p>
          <a:p>
            <a:r>
              <a:rPr sz="950">
                <a:solidFill>
                  <a:srgbClr val="CFE3FF"/>
                </a:solidFill>
                <a:latin typeface="Consolas"/>
              </a:rPr>
              <a:t>            question=..., product=product,</a:t>
            </a:r>
          </a:p>
          <a:p>
            <a:r>
              <a:rPr sz="950">
                <a:solidFill>
                  <a:srgbClr val="CFE3FF"/>
                </a:solidFill>
                <a:latin typeface="Consolas"/>
              </a:rPr>
              <a:t>            criteria=[criterion], top_k=k))</a:t>
            </a:r>
          </a:p>
          <a:p>
            <a:r>
              <a:rPr sz="950">
                <a:solidFill>
                  <a:srgbClr val="CFE3FF"/>
                </a:solidFill>
                <a:latin typeface="Consolas"/>
              </a:rPr>
              <a:t/>
            </a:r>
          </a:p>
          <a:p>
            <a:r>
              <a:rPr sz="950">
                <a:solidFill>
                  <a:srgbClr val="9AA4B2"/>
                </a:solidFill>
                <a:latin typeface="Consolas"/>
              </a:rPr>
              <a:t># execute: per-step hybrid retrieval,</a:t>
            </a:r>
          </a:p>
          <a:p>
            <a:r>
              <a:rPr sz="950">
                <a:solidFill>
                  <a:srgbClr val="9AA4B2"/>
                </a:solidFill>
                <a:latin typeface="Consolas"/>
              </a:rPr>
              <a:t># de-duped under a global chunk budget</a:t>
            </a:r>
          </a:p>
          <a:p>
            <a:r>
              <a:rPr sz="950">
                <a:solidFill>
                  <a:srgbClr val="CFE3FF"/>
                </a:solidFill>
                <a:latin typeface="Consolas"/>
              </a:rPr>
              <a:t>bundles = executor.execute(plan)</a:t>
            </a:r>
          </a:p>
          <a:p>
            <a:r>
              <a:rPr sz="950">
                <a:solidFill>
                  <a:srgbClr val="CFE3FF"/>
                </a:solidFill>
                <a:latin typeface="Consolas"/>
              </a:rPr>
              <a:t>chunks = executor.flatten(bundles)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56032"/>
            <a:ext cx="7315200" cy="36576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100" b="1">
                <a:solidFill>
                  <a:srgbClr val="4F8CFF"/>
                </a:solidFill>
                <a:latin typeface="Segoe UI"/>
              </a:rPr>
              <a:t>6.5  ·  RAG PIPELINE — RETRIEVAL CORE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566928"/>
            <a:ext cx="11430000" cy="64008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2800" b="1">
                <a:solidFill>
                  <a:srgbClr val="E6E9EF"/>
                </a:solidFill>
                <a:latin typeface="Segoe UI"/>
              </a:rPr>
              <a:t>Hybrid retrieval &amp; fusion (the code that earns the context)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98448"/>
            <a:ext cx="11384280" cy="15240"/>
          </a:xfrm>
          <a:prstGeom prst="rect">
            <a:avLst/>
          </a:prstGeom>
          <a:solidFill>
            <a:srgbClr val="2A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6766560" cy="2834640"/>
          </a:xfrm>
          <a:prstGeom prst="roundRect">
            <a:avLst/>
          </a:prstGeom>
          <a:solidFill>
            <a:srgbClr val="1D232E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400" b="0">
                <a:solidFill>
                  <a:srgbClr val="E6E9EF"/>
                </a:solidFill>
                <a:latin typeface="Segoe UI"/>
              </a:rPr>
              <a:t/>
            </a:r>
            <a:r>
              <a:rPr sz="1050">
                <a:solidFill>
                  <a:srgbClr val="9AA4B2"/>
                </a:solidFill>
                <a:latin typeface="Consolas"/>
              </a:rPr>
              <a:t># src/retrieval/hybrid.py — Reciprocal Rank Fusion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doc_scores: dict[str, float] = defaultdict(float)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pool: dict[str, dict] = {}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for hits in (dense_hits, bm25_hits):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    for rank, chunk in enumerate(hits, start=1):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        doc_scores[chunk.chunk_id] += 1.0 / (rrf_k + rank)   # rrf_k=60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        pool[chunk.chunk_id] = chunk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return [pool[cid] for cid in sorted(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    doc_scores, key=doc_scores.get, reverse=True)[:top_k]]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572000"/>
            <a:ext cx="6766560" cy="1828800"/>
          </a:xfrm>
          <a:prstGeom prst="roundRect">
            <a:avLst/>
          </a:prstGeom>
          <a:solidFill>
            <a:srgbClr val="1D232E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400" b="0">
                <a:solidFill>
                  <a:srgbClr val="E6E9EF"/>
                </a:solidFill>
                <a:latin typeface="Segoe UI"/>
              </a:rPr>
              <a:t/>
            </a:r>
            <a:r>
              <a:rPr sz="1050">
                <a:solidFill>
                  <a:srgbClr val="9AA4B2"/>
                </a:solidFill>
                <a:latin typeface="Consolas"/>
              </a:rPr>
              <a:t># metadata filter is applied to BOTH paths (Phase 3, FR-004)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hits = store.search(vector, k, filter={"product": product})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lex  = bm25.search(terms,   k, filter={"product": product})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Rank-based fusion: no score scaling needed across two incomparable scorers; rank r contributes 1/(60+r).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BM25 is in-house (src/retrieval/bm25.py): exact terms — clause ids “XIII”, “cataract”, defined terms — rank where embeddings blur.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Dense pass: cosine over L2-normalized embeddings in a persistent ChromaDB collection (idempotent upserts, FR-006).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The fused pool (candidate_k=20) is rescored by the cross-encoder, or by the lexical feature-blend fallback when the model can't load — never a silent no-op.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Result (frozen set): P@5 0.34 → 0.43, nDCG@5 0.41 → 0.55, MRR 0.59 → 0.78 over the Phase 2 semantic baseline.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56032"/>
            <a:ext cx="7315200" cy="36576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100" b="1">
                <a:solidFill>
                  <a:srgbClr val="4F8CFF"/>
                </a:solidFill>
                <a:latin typeface="Segoe UI"/>
              </a:rPr>
              <a:t>6.4  ·  VALIDATION 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566928"/>
            <a:ext cx="11430000" cy="64008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2800" b="1">
                <a:solidFill>
                  <a:srgbClr val="E6E9EF"/>
                </a:solidFill>
                <a:latin typeface="Segoe UI"/>
              </a:rPr>
              <a:t>Claim verification — the guardrail, in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98448"/>
            <a:ext cx="11384280" cy="15240"/>
          </a:xfrm>
          <a:prstGeom prst="rect">
            <a:avLst/>
          </a:prstGeom>
          <a:solidFill>
            <a:srgbClr val="2A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6766560" cy="4023360"/>
          </a:xfrm>
          <a:prstGeom prst="roundRect">
            <a:avLst/>
          </a:prstGeom>
          <a:solidFill>
            <a:srgbClr val="1D232E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400" b="0">
                <a:solidFill>
                  <a:srgbClr val="E6E9EF"/>
                </a:solidFill>
                <a:latin typeface="Segoe UI"/>
              </a:rPr>
              <a:t/>
            </a:r>
            <a:r>
              <a:rPr sz="1050">
                <a:solidFill>
                  <a:srgbClr val="9AA4B2"/>
                </a:solidFill>
                <a:latin typeface="Consolas"/>
              </a:rPr>
              <a:t># src/grounding/verifier.py — Agent 5 rules pass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claim_tokens = tokenize(claim.text, stopwords)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best = 0.0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for chunk in cited:                      # excerpts its [n] markers point to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    score = containment(claim_tokens,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                        tokenize(chunk_text(chunk), stopwords))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    best = max(best, score)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claim_numbers    = set(NUMBER_RE.findall(claim.text))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evidence_numbers = union of numbers across cited evidence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if claim_numbers and evidence_numbers and not (claim_numbers &amp; evidence_numbers):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    return CONTRADICTED  if number_strict else flag the mismatch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if best &gt;= support_threshold:            # 0.35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    return SUPPORTED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return INSUFFICIENT                      # absence of evidence != evidence of absence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715000"/>
            <a:ext cx="6766560" cy="868680"/>
          </a:xfrm>
          <a:prstGeom prst="roundRect">
            <a:avLst/>
          </a:prstGeom>
          <a:solidFill>
            <a:srgbClr val="1D232E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400" b="0">
                <a:solidFill>
                  <a:srgbClr val="E6E9EF"/>
                </a:solidFill>
                <a:latin typeface="Segoe UI"/>
              </a:rPr>
              <a:t/>
            </a:r>
            <a:r>
              <a:rPr sz="1050">
                <a:solidFill>
                  <a:srgbClr val="9AA4B2"/>
                </a:solidFill>
                <a:latin typeface="Consolas"/>
              </a:rPr>
              <a:t># handler: insufficient fact claims are CUT OUT of the answer;</a:t>
            </a:r>
          </a:p>
          <a:p>
            <a:r>
              <a:rPr sz="1050">
                <a:solidFill>
                  <a:srgbClr val="9AA4B2"/>
                </a:solidFill>
                <a:latin typeface="Consolas"/>
              </a:rPr>
              <a:t># if no fact claim survives -&gt; abstain + one targeted clarification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554480"/>
            <a:ext cx="4206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Three-way verdict (§8): supported / contradicted / insufficient — a claim with no evidence is never silently dropped or called false.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Number consistency: a claim saying “2 years” cannot be supported by evidence that only contains “30 days” — this stripped a real hallucination live.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LLM second pass (optional) can only lift CONTRADICTED when it says supported — a parser error cannot paper over a contradiction.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Conclusions are labelled, not verified as fact (FR-012 distinction).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Verified live: “waiting period ... 2 years [XXIII]” → [MISS] → abstain + “Could you name the specific procedure…?”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56032"/>
            <a:ext cx="7315200" cy="36576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100" b="1">
                <a:solidFill>
                  <a:srgbClr val="4F8CFF"/>
                </a:solidFill>
                <a:latin typeface="Segoe UI"/>
              </a:rPr>
              <a:t>PHASE 7  ·  APPLICATION LAYER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566928"/>
            <a:ext cx="11430000" cy="64008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2800" b="1">
                <a:solidFill>
                  <a:srgbClr val="E6E9EF"/>
                </a:solidFill>
                <a:latin typeface="Segoe UI"/>
              </a:rPr>
              <a:t>FastAPI service + bundled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98448"/>
            <a:ext cx="11384280" cy="15240"/>
          </a:xfrm>
          <a:prstGeom prst="rect">
            <a:avLst/>
          </a:prstGeom>
          <a:solidFill>
            <a:srgbClr val="2A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6949440" cy="2194560"/>
          </a:xfrm>
          <a:prstGeom prst="roundRect">
            <a:avLst/>
          </a:prstGeom>
          <a:solidFill>
            <a:srgbClr val="1D232E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400" b="0">
                <a:solidFill>
                  <a:srgbClr val="E6E9EF"/>
                </a:solidFill>
                <a:latin typeface="Segoe UI"/>
              </a:rPr>
              <a:t/>
            </a:r>
            <a:r>
              <a:rPr sz="1050">
                <a:solidFill>
                  <a:srgbClr val="9AA4B2"/>
                </a:solidFill>
                <a:latin typeface="Consolas"/>
              </a:rPr>
              <a:t># src/api/service.py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@app.post("/api/query")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def api_query(body: QueryRequest) -&gt; dict: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    agent = state.agent()          # built lazily, cached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    response = agent.run(body.query, k=body.k)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    return _serialize(response, state.llm_mode)</a:t>
            </a:r>
          </a:p>
          <a:p>
            <a:r>
              <a:rPr sz="1050">
                <a:solidFill>
                  <a:srgbClr val="9AA4B2"/>
                </a:solidFill>
                <a:latin typeface="Consolas"/>
              </a:rPr>
              <a:t>    # -&gt; answer, normalized citations, grounding,</a:t>
            </a:r>
          </a:p>
          <a:p>
            <a:r>
              <a:rPr sz="1050">
                <a:solidFill>
                  <a:srgbClr val="9AA4B2"/>
                </a:solidFill>
                <a:latin typeface="Consolas"/>
              </a:rPr>
              <a:t>    #    abstention/clarification, latency breakdown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86200"/>
            <a:ext cx="6949440" cy="1463040"/>
          </a:xfrm>
          <a:prstGeom prst="roundRect">
            <a:avLst/>
          </a:prstGeom>
          <a:solidFill>
            <a:srgbClr val="1D232E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400" b="0">
                <a:solidFill>
                  <a:srgbClr val="E6E9EF"/>
                </a:solidFill>
                <a:latin typeface="Segoe UI"/>
              </a:rPr>
              <a:t/>
            </a:r>
            <a:r>
              <a:rPr sz="1050">
                <a:solidFill>
                  <a:srgbClr val="9AA4B2"/>
                </a:solidFill>
                <a:latin typeface="Consolas"/>
              </a:rPr>
              <a:t># SSE variant consumed by the bundled chat UI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@app.get("/api/stream")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def api_stream(q: str, k: int | None = None):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    def events():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        yield sse(working="planning retrieval…")</a:t>
            </a:r>
          </a:p>
          <a:p>
            <a:r>
              <a:rPr sz="1050">
                <a:solidFill>
                  <a:srgbClr val="CFE3FF"/>
                </a:solidFill>
                <a:latin typeface="Consolas"/>
              </a:rPr>
              <a:t>        yield sse(result=agent.run(q, k=k))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486400"/>
            <a:ext cx="6949440" cy="914400"/>
          </a:xfrm>
          <a:prstGeom prst="roundRect">
            <a:avLst/>
          </a:prstGeom>
          <a:solidFill>
            <a:srgbClr val="1D232E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400" b="0">
                <a:solidFill>
                  <a:srgbClr val="E6E9EF"/>
                </a:solidFill>
                <a:latin typeface="Segoe UI"/>
              </a:rPr>
              <a:t/>
            </a:r>
            <a:r>
              <a:rPr sz="1000">
                <a:solidFill>
                  <a:srgbClr val="9AA4B2"/>
                </a:solidFill>
                <a:latin typeface="Consolas"/>
              </a:rPr>
              <a:t># optional access control (SRS Phase 7: "authentication where required")</a:t>
            </a:r>
          </a:p>
          <a:p>
            <a:r>
              <a:rPr sz="1000">
                <a:solidFill>
                  <a:srgbClr val="CFE3FF"/>
                </a:solidFill>
                <a:latin typeface="Consolas"/>
              </a:rPr>
              <a:t>key_dep = Depends(check_api_key)   # enables X-API-Key when</a:t>
            </a:r>
          </a:p>
          <a:p>
            <a:r>
              <a:rPr sz="1000">
                <a:solidFill>
                  <a:srgbClr val="9AA4B2"/>
                </a:solidFill>
                <a:latin typeface="Consolas"/>
              </a:rPr>
              <a:t>                                   # POLICY_RAG_API_KEY is 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55448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One code path: /api/query, the CLI and the evaluator all call VerifiedAgent.run — the UI shows exactly what Phase 6 scores.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UI: dependency-free single static page (src/api/static/index.html) — chat box, sample questions, no-LLM toggle, grounding badges, citation list, latency grid, retrieval-step trace.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/api/reports serves the phase 1–6 evaluation artifacts (traversal blocked).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Every request logged as one JSON line → reports/phase7_api_log.jsonl.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Verified live: 10/10 supported claims on the cataract query, OOD abstained via stream, UI + /docs serve 200.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56032"/>
            <a:ext cx="7315200" cy="36576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100" b="1">
                <a:solidFill>
                  <a:srgbClr val="4F8CFF"/>
                </a:solidFill>
                <a:latin typeface="Segoe UI"/>
              </a:rPr>
              <a:t>6.6  ·  HYPERPARAMETERS &amp; IMPLEMENTATION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566928"/>
            <a:ext cx="11430000" cy="64008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2800" b="1">
                <a:solidFill>
                  <a:srgbClr val="E6E9EF"/>
                </a:solidFill>
                <a:latin typeface="Segoe UI"/>
              </a:rPr>
              <a:t>Hyperparameters &amp; implementation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98448"/>
            <a:ext cx="11384280" cy="15240"/>
          </a:xfrm>
          <a:prstGeom prst="rect">
            <a:avLst/>
          </a:prstGeom>
          <a:solidFill>
            <a:srgbClr val="2A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45920"/>
          <a:ext cx="68580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3017520"/>
                <a:gridCol w="205740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E6E9EF"/>
                          </a:solidFill>
                          <a:latin typeface="Segoe UI"/>
                        </a:rPr>
                        <a:t>Setting</a:t>
                      </a:r>
                    </a:p>
                  </a:txBody>
                  <a:tcPr marL="54864" marR="54864" marT="18288" marB="18288">
                    <a:solidFill>
                      <a:srgbClr val="1D23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E6E9EF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 marL="54864" marR="54864" marT="18288" marB="18288">
                    <a:solidFill>
                      <a:srgbClr val="1D23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E6E9EF"/>
                          </a:solidFill>
                          <a:latin typeface="Segoe UI"/>
                        </a:rPr>
                        <a:t>Where</a:t>
                      </a:r>
                    </a:p>
                  </a:txBody>
                  <a:tcPr marL="54864" marR="54864" marT="18288" marB="18288">
                    <a:solidFill>
                      <a:srgbClr val="1D232E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9EF"/>
                          </a:solidFill>
                          <a:latin typeface="Segoe UI"/>
                        </a:rPr>
                        <a:t>chunking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≈ 700 chars / 60 overlap, clause-aware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configs/phase2.json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9EF"/>
                          </a:solidFill>
                          <a:latin typeface="Segoe UI"/>
                        </a:rPr>
                        <a:t>embedding model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all-MiniLM-L6-v2 (384-d, L2-normalized)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configs/phase2.json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9EF"/>
                          </a:solidFill>
                          <a:latin typeface="Segoe UI"/>
                        </a:rPr>
                        <a:t>retrieval top-k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5 (candidate pool 20)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configs/phase3.json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9EF"/>
                          </a:solidFill>
                          <a:latin typeface="Segoe UI"/>
                        </a:rPr>
                        <a:t>RRF constant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rrf_k = 60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configs/phase3.json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9EF"/>
                          </a:solidFill>
                          <a:latin typeface="Segoe UI"/>
                        </a:rPr>
                        <a:t>reranker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cross-encoder/ms-marco-MiniLM-L-6-v2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configs/phase3.json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9EF"/>
                          </a:solidFill>
                          <a:latin typeface="Segoe UI"/>
                        </a:rPr>
                        <a:t>LLM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llama3.2:3b · temp 0.2 · num_predict 512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configs/phase2.json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9EF"/>
                          </a:solidFill>
                          <a:latin typeface="Segoe UI"/>
                        </a:rPr>
                        <a:t>support_threshold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0.35, number_strict = true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configs/phase5.json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9EF"/>
                          </a:solidFill>
                          <a:latin typeface="Segoe UI"/>
                        </a:rPr>
                        <a:t>evidence budget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max 80 chunks / prompt 6000 chars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configs/phase4.json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0" y="169164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No fine-tuning; behaviour comes from prompts + deterministic verification.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Deterministic ids: chunk_id = DOC::cNNNN → idempotent rebuilds (FR-006).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215 tests across 7 phases run offline (no server) in ~30 s; phase-1 OCR suite is machine-bound.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Everything regenerable: vector + BM25 indexes are git-ignored build artifacts.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56032"/>
            <a:ext cx="7315200" cy="36576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100" b="1">
                <a:solidFill>
                  <a:srgbClr val="4F8CFF"/>
                </a:solidFill>
                <a:latin typeface="Segoe UI"/>
              </a:rPr>
              <a:t>7  ·  EXPERIMENTS AND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566928"/>
            <a:ext cx="11430000" cy="64008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2800" b="1">
                <a:solidFill>
                  <a:srgbClr val="E6E9EF"/>
                </a:solidFill>
                <a:latin typeface="Segoe UI"/>
              </a:rPr>
              <a:t>Experiments and Results — setup &amp; headline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98448"/>
            <a:ext cx="11384280" cy="15240"/>
          </a:xfrm>
          <a:prstGeom prst="rect">
            <a:avLst/>
          </a:prstGeom>
          <a:solidFill>
            <a:srgbClr val="2A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11247120" cy="548640"/>
          </a:xfrm>
          <a:prstGeom prst="roundRect">
            <a:avLst/>
          </a:prstGeom>
          <a:solidFill>
            <a:srgbClr val="161B23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250" b="0">
                <a:solidFill>
                  <a:srgbClr val="9AA4B2"/>
                </a:solidFill>
                <a:latin typeface="Segoe UI"/>
              </a:rPr>
              <a:t>Setup: frozen 45-query set · Agent 5 validator scores BOTH pipelines offline like-for-like · full-LLM and offline (--no-llm) records · tokens + latency per component (§14.7/14.8)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3291840" cy="32004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300" b="1">
                <a:solidFill>
                  <a:srgbClr val="4F8CFF"/>
                </a:solidFill>
                <a:latin typeface="Segoe UI"/>
              </a:rPr>
              <a:t>AC-010 — baseline vs full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651760"/>
          <a:ext cx="56692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1133856"/>
                <a:gridCol w="1133856"/>
                <a:gridCol w="1133856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E6E9EF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 marL="54864" marR="54864" marT="18288" marB="18288">
                    <a:solidFill>
                      <a:srgbClr val="1D23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E6E9EF"/>
                          </a:solidFill>
                          <a:latin typeface="Segoe UI"/>
                        </a:rPr>
                        <a:t>baseline</a:t>
                      </a:r>
                    </a:p>
                  </a:txBody>
                  <a:tcPr marL="54864" marR="54864" marT="18288" marB="18288">
                    <a:solidFill>
                      <a:srgbClr val="1D23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E6E9EF"/>
                          </a:solidFill>
                          <a:latin typeface="Segoe UI"/>
                        </a:rPr>
                        <a:t>full</a:t>
                      </a:r>
                    </a:p>
                  </a:txBody>
                  <a:tcPr marL="54864" marR="54864" marT="18288" marB="18288">
                    <a:solidFill>
                      <a:srgbClr val="1D23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E6E9EF"/>
                          </a:solidFill>
                          <a:latin typeface="Segoe UI"/>
                        </a:rPr>
                        <a:t>Δ</a:t>
                      </a:r>
                    </a:p>
                  </a:txBody>
                  <a:tcPr marL="54864" marR="54864" marT="18288" marB="18288">
                    <a:solidFill>
                      <a:srgbClr val="1D232E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9EF"/>
                          </a:solidFill>
                          <a:latin typeface="Segoe UI"/>
                        </a:rPr>
                        <a:t>answer correctness (proxy) ↑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0.791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0.809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5C26E"/>
                          </a:solidFill>
                          <a:latin typeface="Segoe UI"/>
                        </a:rPr>
                        <a:t>+0.019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9EF"/>
                          </a:solidFill>
                          <a:latin typeface="Segoe UI"/>
                        </a:rPr>
                        <a:t>unsupported claim rate ↓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0.066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0.061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-0.005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9EF"/>
                          </a:solidFill>
                          <a:latin typeface="Segoe UI"/>
                        </a:rPr>
                        <a:t>mean grounding support ↑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0.943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0.949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5C26E"/>
                          </a:solidFill>
                          <a:latin typeface="Segoe UI"/>
                        </a:rPr>
                        <a:t>+0.006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9EF"/>
                          </a:solidFill>
                          <a:latin typeface="Segoe UI"/>
                        </a:rPr>
                        <a:t>OOD probes abstained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0/2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1/2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5C26E"/>
                          </a:solidFill>
                          <a:latin typeface="Segoe UI"/>
                        </a:rPr>
                        <a:t>+1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9EF"/>
                          </a:solidFill>
                          <a:latin typeface="Segoe UI"/>
                        </a:rPr>
                        <a:t>ms / query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70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5 894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×84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0" y="2286000"/>
            <a:ext cx="5303520" cy="32004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300" b="1">
                <a:solidFill>
                  <a:srgbClr val="4F8CFF"/>
                </a:solidFill>
                <a:latin typeface="Segoe UI"/>
              </a:rPr>
              <a:t>Retrieval quality (same frozen set)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265176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848"/>
                <a:gridCol w="1069848"/>
                <a:gridCol w="1069848"/>
                <a:gridCol w="1069848"/>
                <a:gridCol w="1069848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E6E9EF"/>
                          </a:solidFill>
                          <a:latin typeface="Segoe UI"/>
                        </a:rPr>
                        <a:t>mode</a:t>
                      </a:r>
                    </a:p>
                  </a:txBody>
                  <a:tcPr marL="54864" marR="54864" marT="18288" marB="18288">
                    <a:solidFill>
                      <a:srgbClr val="1D23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E6E9EF"/>
                          </a:solidFill>
                          <a:latin typeface="Segoe UI"/>
                        </a:rPr>
                        <a:t>P@5</a:t>
                      </a:r>
                    </a:p>
                  </a:txBody>
                  <a:tcPr marL="54864" marR="54864" marT="18288" marB="18288">
                    <a:solidFill>
                      <a:srgbClr val="1D23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E6E9EF"/>
                          </a:solidFill>
                          <a:latin typeface="Segoe UI"/>
                        </a:rPr>
                        <a:t>R@5</a:t>
                      </a:r>
                    </a:p>
                  </a:txBody>
                  <a:tcPr marL="54864" marR="54864" marT="18288" marB="18288">
                    <a:solidFill>
                      <a:srgbClr val="1D23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E6E9EF"/>
                          </a:solidFill>
                          <a:latin typeface="Segoe UI"/>
                        </a:rPr>
                        <a:t>nDCG@5</a:t>
                      </a:r>
                    </a:p>
                  </a:txBody>
                  <a:tcPr marL="54864" marR="54864" marT="18288" marB="18288">
                    <a:solidFill>
                      <a:srgbClr val="1D23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E6E9EF"/>
                          </a:solidFill>
                          <a:latin typeface="Segoe UI"/>
                        </a:rPr>
                        <a:t>MRR</a:t>
                      </a:r>
                    </a:p>
                  </a:txBody>
                  <a:tcPr marL="54864" marR="54864" marT="18288" marB="18288">
                    <a:solidFill>
                      <a:srgbClr val="1D232E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9EF"/>
                          </a:solidFill>
                          <a:latin typeface="Segoe UI"/>
                        </a:rPr>
                        <a:t>semantic (baseline)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0.340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0.367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0.410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0.586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9EF"/>
                          </a:solidFill>
                          <a:latin typeface="Segoe UI"/>
                        </a:rPr>
                        <a:t>keyword BM25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0.312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0.350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0.386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0.538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9EF"/>
                          </a:solidFill>
                          <a:latin typeface="Segoe UI"/>
                        </a:rPr>
                        <a:t>hybrid RRF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0.391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0.417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0.481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0.685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9EF"/>
                          </a:solidFill>
                          <a:latin typeface="Segoe UI"/>
                        </a:rPr>
                        <a:t>hybrid + rerank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0.428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0.481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0.552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0.776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532120"/>
            <a:ext cx="11247120" cy="1005840"/>
          </a:xfrm>
          <a:prstGeom prst="roundRect">
            <a:avLst/>
          </a:prstGeom>
          <a:solidFill>
            <a:srgbClr val="161B23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250" b="0">
                <a:solidFill>
                  <a:srgbClr val="E6E9EF"/>
                </a:solidFill>
                <a:latin typeface="Segoe UI"/>
              </a:rPr>
              <a:t>Reading it: the agentic+verified pipeline answers the same share of questions while cutting unsupported claims; reranking is the retrieval gain (+0.14 nDCG@5 over baseline); the cost is latency, dominated by cross-encoder reranking on CPU.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56032"/>
            <a:ext cx="7315200" cy="36576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100" b="1">
                <a:solidFill>
                  <a:srgbClr val="4F8CFF"/>
                </a:solidFill>
                <a:latin typeface="Segoe UI"/>
              </a:rPr>
              <a:t>7.4  ·  COMPARISON WITH BASELINES (ABLATIONS)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566928"/>
            <a:ext cx="11430000" cy="64008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2800" b="1">
                <a:solidFill>
                  <a:srgbClr val="E6E9EF"/>
                </a:solidFill>
                <a:latin typeface="Segoe UI"/>
              </a:rPr>
              <a:t>Ablation experiments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98448"/>
            <a:ext cx="11384280" cy="15240"/>
          </a:xfrm>
          <a:prstGeom prst="rect">
            <a:avLst/>
          </a:prstGeom>
          <a:solidFill>
            <a:srgbClr val="2A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00200"/>
          <a:ext cx="1115568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E6E9EF"/>
                          </a:solidFill>
                          <a:latin typeface="Segoe UI"/>
                        </a:rPr>
                        <a:t>variant</a:t>
                      </a:r>
                    </a:p>
                  </a:txBody>
                  <a:tcPr marL="54864" marR="54864" marT="18288" marB="18288">
                    <a:solidFill>
                      <a:srgbClr val="1D23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E6E9EF"/>
                          </a:solidFill>
                          <a:latin typeface="Segoe UI"/>
                        </a:rPr>
                        <a:t>correct ↑</a:t>
                      </a:r>
                    </a:p>
                  </a:txBody>
                  <a:tcPr marL="54864" marR="54864" marT="18288" marB="18288">
                    <a:solidFill>
                      <a:srgbClr val="1D23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E6E9EF"/>
                          </a:solidFill>
                          <a:latin typeface="Segoe UI"/>
                        </a:rPr>
                        <a:t>unsupported ↓</a:t>
                      </a:r>
                    </a:p>
                  </a:txBody>
                  <a:tcPr marL="54864" marR="54864" marT="18288" marB="18288">
                    <a:solidFill>
                      <a:srgbClr val="1D23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E6E9EF"/>
                          </a:solidFill>
                          <a:latin typeface="Segoe UI"/>
                        </a:rPr>
                        <a:t>grounding ↑</a:t>
                      </a:r>
                    </a:p>
                  </a:txBody>
                  <a:tcPr marL="54864" marR="54864" marT="18288" marB="18288">
                    <a:solidFill>
                      <a:srgbClr val="1D23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E6E9EF"/>
                          </a:solidFill>
                          <a:latin typeface="Segoe UI"/>
                        </a:rPr>
                        <a:t>abstentions</a:t>
                      </a:r>
                    </a:p>
                  </a:txBody>
                  <a:tcPr marL="54864" marR="54864" marT="18288" marB="18288">
                    <a:solidFill>
                      <a:srgbClr val="1D23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E6E9EF"/>
                          </a:solidFill>
                          <a:latin typeface="Segoe UI"/>
                        </a:rPr>
                        <a:t>mean ms</a:t>
                      </a:r>
                    </a:p>
                  </a:txBody>
                  <a:tcPr marL="54864" marR="54864" marT="18288" marB="18288">
                    <a:solidFill>
                      <a:srgbClr val="1D232E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6E9EF"/>
                          </a:solidFill>
                          <a:latin typeface="Segoe UI"/>
                        </a:rPr>
                        <a:t>default (hybrid + rerank + grounding)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AA4B2"/>
                          </a:solidFill>
                          <a:latin typeface="Segoe UI"/>
                        </a:rPr>
                        <a:t>0.809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AA4B2"/>
                          </a:solidFill>
                          <a:latin typeface="Segoe UI"/>
                        </a:rPr>
                        <a:t>0.061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AA4B2"/>
                          </a:solidFill>
                          <a:latin typeface="Segoe UI"/>
                        </a:rPr>
                        <a:t>0.949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AA4B2"/>
                          </a:solidFill>
                          <a:latin typeface="Segoe UI"/>
                        </a:rPr>
                        <a:t>1/2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AA4B2"/>
                          </a:solidFill>
                          <a:latin typeface="Segoe UI"/>
                        </a:rPr>
                        <a:t>2 251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6E9EF"/>
                          </a:solidFill>
                          <a:latin typeface="Segoe UI"/>
                        </a:rPr>
                        <a:t>no_rerank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AA4B2"/>
                          </a:solidFill>
                          <a:latin typeface="Segoe UI"/>
                        </a:rPr>
                        <a:t>0.857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AA4B2"/>
                          </a:solidFill>
                          <a:latin typeface="Segoe UI"/>
                        </a:rPr>
                        <a:t>0.088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AA4B2"/>
                          </a:solidFill>
                          <a:latin typeface="Segoe UI"/>
                        </a:rPr>
                        <a:t>0.924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AA4B2"/>
                          </a:solidFill>
                          <a:latin typeface="Segoe UI"/>
                        </a:rPr>
                        <a:t>1/2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AA4B2"/>
                          </a:solidFill>
                          <a:latin typeface="Segoe UI"/>
                        </a:rPr>
                        <a:t>38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6E9EF"/>
                          </a:solidFill>
                          <a:latin typeface="Segoe UI"/>
                        </a:rPr>
                        <a:t>keyword_only (BM25)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AA4B2"/>
                          </a:solidFill>
                          <a:latin typeface="Segoe UI"/>
                        </a:rPr>
                        <a:t>0.833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AA4B2"/>
                          </a:solidFill>
                          <a:latin typeface="Segoe UI"/>
                        </a:rPr>
                        <a:t>0.045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AA4B2"/>
                          </a:solidFill>
                          <a:latin typeface="Segoe UI"/>
                        </a:rPr>
                        <a:t>0.959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AA4B2"/>
                          </a:solidFill>
                          <a:latin typeface="Segoe UI"/>
                        </a:rPr>
                        <a:t>1/2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AA4B2"/>
                          </a:solidFill>
                          <a:latin typeface="Segoe UI"/>
                        </a:rPr>
                        <a:t>2 312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6E9EF"/>
                          </a:solidFill>
                          <a:latin typeface="Segoe UI"/>
                        </a:rPr>
                        <a:t>semantic_only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AA4B2"/>
                          </a:solidFill>
                          <a:latin typeface="Segoe UI"/>
                        </a:rPr>
                        <a:t>0.833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AA4B2"/>
                          </a:solidFill>
                          <a:latin typeface="Segoe UI"/>
                        </a:rPr>
                        <a:t>0.072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AA4B2"/>
                          </a:solidFill>
                          <a:latin typeface="Segoe UI"/>
                        </a:rPr>
                        <a:t>0.940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AA4B2"/>
                          </a:solidFill>
                          <a:latin typeface="Segoe UI"/>
                        </a:rPr>
                        <a:t>1/2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AA4B2"/>
                          </a:solidFill>
                          <a:latin typeface="Segoe UI"/>
                        </a:rPr>
                        <a:t>2 621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6E9EF"/>
                          </a:solidFill>
                          <a:latin typeface="Segoe UI"/>
                        </a:rPr>
                        <a:t>no_strip (handler off)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AA4B2"/>
                          </a:solidFill>
                          <a:latin typeface="Segoe UI"/>
                        </a:rPr>
                        <a:t>0.809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AA4B2"/>
                          </a:solidFill>
                          <a:latin typeface="Segoe UI"/>
                        </a:rPr>
                        <a:t>0.061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AA4B2"/>
                          </a:solidFill>
                          <a:latin typeface="Segoe UI"/>
                        </a:rPr>
                        <a:t>0.949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AA4B2"/>
                          </a:solidFill>
                          <a:latin typeface="Segoe UI"/>
                        </a:rPr>
                        <a:t>1/2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AA4B2"/>
                          </a:solidFill>
                          <a:latin typeface="Segoe UI"/>
                        </a:rPr>
                        <a:t>2 599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6E9EF"/>
                          </a:solidFill>
                          <a:latin typeface="Segoe UI"/>
                        </a:rPr>
                        <a:t>rules_only_verify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AA4B2"/>
                          </a:solidFill>
                          <a:latin typeface="Segoe UI"/>
                        </a:rPr>
                        <a:t>0.809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AA4B2"/>
                          </a:solidFill>
                          <a:latin typeface="Segoe UI"/>
                        </a:rPr>
                        <a:t>0.061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AA4B2"/>
                          </a:solidFill>
                          <a:latin typeface="Segoe UI"/>
                        </a:rPr>
                        <a:t>0.949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AA4B2"/>
                          </a:solidFill>
                          <a:latin typeface="Segoe UI"/>
                        </a:rPr>
                        <a:t>1/2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AA4B2"/>
                          </a:solidFill>
                          <a:latin typeface="Segoe UI"/>
                        </a:rPr>
                        <a:t>2 486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57200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E6E9EF"/>
                </a:solidFill>
                <a:latin typeface="Segoe UI"/>
              </a:rPr>
              <a:t>•  no_rerank: 80× faster but its answers lean on weaker evidence — grounding support drops 0.949 → 0.924 and unsupported claims rise 0.061 → 0.088; the proxy-correctness metric can't see the evidence-quality drop, grounding can.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6E9EF"/>
                </a:solidFill>
                <a:latin typeface="Segoe UI"/>
              </a:rPr>
              <a:t>•  keyword_only quietly wins on unsupported-claims (0.045) — exact term matching matters for clause ids; a hybrid of BM25 + dense remains the balanced default.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6E9EF"/>
                </a:solidFill>
                <a:latin typeface="Segoe UI"/>
              </a:rPr>
              <a:t>•  no_strip / rules_only_verify ≈ default on this set: the offline eval set is too clean to always expose the handler; the live run (cataract “2 years” hallucination stripped) shows where it fires.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6E9EF"/>
                </a:solidFill>
                <a:latin typeface="Segoe UI"/>
              </a:rPr>
              <a:t>•  Ablations run single-change on the same frozen set → every delta is attributable.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56032"/>
            <a:ext cx="7315200" cy="36576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100" b="1">
                <a:solidFill>
                  <a:srgbClr val="4F8CFF"/>
                </a:solidFill>
                <a:latin typeface="Segoe UI"/>
              </a:rPr>
              <a:t>7.3  ·  QUALITATIVE ANALYSIS / §15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566928"/>
            <a:ext cx="11430000" cy="64008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2800" b="1">
                <a:solidFill>
                  <a:srgbClr val="E6E9EF"/>
                </a:solidFill>
                <a:latin typeface="Segoe UI"/>
              </a:rPr>
              <a:t>Failure taxonomy (AC-012)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98448"/>
            <a:ext cx="11384280" cy="15240"/>
          </a:xfrm>
          <a:prstGeom prst="rect">
            <a:avLst/>
          </a:prstGeom>
          <a:solidFill>
            <a:srgbClr val="2A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00200"/>
          <a:ext cx="7040879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4905"/>
                <a:gridCol w="4928616"/>
                <a:gridCol w="1267358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E6E9EF"/>
                          </a:solidFill>
                          <a:latin typeface="Segoe UI"/>
                        </a:rPr>
                        <a:t>code</a:t>
                      </a:r>
                    </a:p>
                  </a:txBody>
                  <a:tcPr marL="54864" marR="54864" marT="18288" marB="18288">
                    <a:solidFill>
                      <a:srgbClr val="1D23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E6E9EF"/>
                          </a:solidFill>
                          <a:latin typeface="Segoe UI"/>
                        </a:rPr>
                        <a:t>failure</a:t>
                      </a:r>
                    </a:p>
                  </a:txBody>
                  <a:tcPr marL="54864" marR="54864" marT="18288" marB="18288">
                    <a:solidFill>
                      <a:srgbClr val="1D23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E6E9EF"/>
                          </a:solidFill>
                          <a:latin typeface="Segoe UI"/>
                        </a:rPr>
                        <a:t>queries</a:t>
                      </a:r>
                    </a:p>
                  </a:txBody>
                  <a:tcPr marL="54864" marR="54864" marT="18288" marB="18288">
                    <a:solidFill>
                      <a:srgbClr val="1D232E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9EF"/>
                          </a:solidFill>
                          <a:latin typeface="Segoe UI"/>
                        </a:rPr>
                        <a:t>F1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retrieval failure — no relevant chunk retrieved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9EF"/>
                          </a:solidFill>
                          <a:latin typeface="Segoe UI"/>
                        </a:rPr>
                        <a:t>F2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missing relevant evidence — k=5 budget can't cover multi-chunk qrels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9EF"/>
                          </a:solidFill>
                          <a:latin typeface="Segoe UI"/>
                        </a:rPr>
                        <a:t>F4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query classification failure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9EF"/>
                          </a:solidFill>
                          <a:latin typeface="Segoe UI"/>
                        </a:rPr>
                        <a:t>F7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unsupported generation (caught by Agent 5)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9EF"/>
                          </a:solidFill>
                          <a:latin typeface="Segoe UI"/>
                        </a:rPr>
                        <a:t>F10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incorrect abstention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9EF"/>
                          </a:solidFill>
                          <a:latin typeface="Segoe UI"/>
                        </a:rPr>
                        <a:t>F12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product comparison failure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9EF"/>
                          </a:solidFill>
                          <a:latin typeface="Segoe UI"/>
                        </a:rPr>
                        <a:t>F14 / F16 / F15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OOD detection miss / correct abstention / grounding corrected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9AA4B2"/>
                          </a:solidFill>
                          <a:latin typeface="Segoe UI"/>
                        </a:rPr>
                        <a:t>1 / 1 / 11</a:t>
                      </a:r>
                    </a:p>
                  </a:txBody>
                  <a:tcPr marL="54864" marR="54864" marT="18288" marB="18288">
                    <a:solidFill>
                      <a:srgbClr val="161B23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63840" y="1600200"/>
            <a:ext cx="3840480" cy="36576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200" b="1">
                <a:solidFill>
                  <a:srgbClr val="35C26E"/>
                </a:solidFill>
                <a:latin typeface="Segoe UI"/>
              </a:rPr>
              <a:t>F15/F16 = positive detections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103120"/>
            <a:ext cx="3840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E6E9EF"/>
                </a:solidFill>
                <a:latin typeface="Segoe UI"/>
              </a:rPr>
              <a:t>•  F2 dominates (30/45): a k=5 evidence budget structurally can't cover multi-chunk ground truth — a corpus problem, not a model one; raising evidence budget is the lever.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6E9EF"/>
                </a:solidFill>
                <a:latin typeface="Segoe UI"/>
              </a:rPr>
              <a:t>•  F7 (11×) is the model emitting unverifiable claims; all 11 were corrected by the grounding handler (F15) — the guardrail's real work.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6E9EF"/>
                </a:solidFill>
                <a:latin typeface="Segoe UI"/>
              </a:rPr>
              <a:t>•  1 out-of-domain probe answered instead of abstained (F14) — the rules classifier scores cued words, and this probe's phrasing dodged them (LLM fallback engages only at low rule-confidence).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6E9EF"/>
                </a:solidFill>
                <a:latin typeface="Segoe UI"/>
              </a:rPr>
              <a:t>•  Failure codes are recorded per query in reports/phase6_report.json — inspection, not vibes.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56032"/>
            <a:ext cx="7315200" cy="36576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100" b="1">
                <a:solidFill>
                  <a:srgbClr val="4F8CFF"/>
                </a:solidFill>
                <a:latin typeface="Segoe UI"/>
              </a:rPr>
              <a:t>8  ·  DISCUSSION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566928"/>
            <a:ext cx="11430000" cy="64008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2800" b="1">
                <a:solidFill>
                  <a:srgbClr val="E6E9EF"/>
                </a:solidFill>
                <a:latin typeface="Segoe UI"/>
              </a:rPr>
              <a:t>Discussion — known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98448"/>
            <a:ext cx="11384280" cy="15240"/>
          </a:xfrm>
          <a:prstGeom prst="rect">
            <a:avLst/>
          </a:prstGeom>
          <a:solidFill>
            <a:srgbClr val="2A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E6E9EF"/>
                </a:solidFill>
                <a:latin typeface="Segoe UI"/>
              </a:rPr>
              <a:t>•  PDF table extraction can interleave columns — the original cataract fusion (30-day rule + a 2-year list entry squeezed from a scrambled two-column table) came from this; retrieval + verification now catch the symptom, extraction noise remains.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E6E9EF"/>
                </a:solidFill>
                <a:latin typeface="Segoe UI"/>
              </a:rPr>
              <a:t>•  Full-pipeline latency is CPU-bound: ≈6 s/query offline (reranker) and +tens of seconds per Ollama call; levers: --reranker lexical, lower candidate_k, --no-llm.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E6E9EF"/>
                </a:solidFill>
                <a:latin typeface="Segoe UI"/>
              </a:rPr>
              <a:t>•  Answer-format reliability depends on the model emitting [n]; llama3.2:3b occasionally copies a clause's own label (“[XXIII]”) — markers don't resolve and the citation list shortens.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E6E9EF"/>
                </a:solidFill>
                <a:latin typeface="Segoe UI"/>
              </a:rPr>
              <a:t>•  Single-annotator frozen set: qrels are fixed across all compared systems so comparisons are like-for-like, but absolute answer-correctness is a chunk-qrels proxy, not a human answer grade.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E6E9EF"/>
                </a:solidFill>
                <a:latin typeface="Segoe UI"/>
              </a:rPr>
              <a:t>•  Fallback reranker weights were tuned on the same frozen set (optimistic for it); the cross-encoder needs no such tuning and is the configured default.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E6E9EF"/>
                </a:solidFill>
                <a:latin typeface="Segoe UI"/>
              </a:rPr>
              <a:t>•  Docker packaging of the app layer is the remaining Phase 8 item.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56032"/>
            <a:ext cx="7315200" cy="36576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100" b="1">
                <a:solidFill>
                  <a:srgbClr val="4F8CFF"/>
                </a:solidFill>
                <a:latin typeface="Segoe UI"/>
              </a:rPr>
              <a:t>9  ·  CONCLUSION AND FUTURE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566928"/>
            <a:ext cx="11430000" cy="64008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2800" b="1">
                <a:solidFill>
                  <a:srgbClr val="E6E9EF"/>
                </a:solidFill>
                <a:latin typeface="Segoe UI"/>
              </a:rPr>
              <a:t>Conclusion and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98448"/>
            <a:ext cx="11384280" cy="15240"/>
          </a:xfrm>
          <a:prstGeom prst="rect">
            <a:avLst/>
          </a:prstGeom>
          <a:solidFill>
            <a:srgbClr val="2A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5486400" cy="4480560"/>
          </a:xfrm>
          <a:prstGeom prst="roundRect">
            <a:avLst/>
          </a:prstGeom>
          <a:solidFill>
            <a:srgbClr val="161B23"/>
          </a:solidFill>
          <a:ln w="12700">
            <a:solidFill>
              <a:srgbClr val="35C2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400" b="0">
                <a:solidFill>
                  <a:srgbClr val="E6E9EF"/>
                </a:solidFill>
                <a:latin typeface="Segoe U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120640" cy="36576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400" b="1">
                <a:solidFill>
                  <a:srgbClr val="35C26E"/>
                </a:solidFill>
                <a:latin typeface="Segoe UI"/>
              </a:rPr>
              <a:t>Delivered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Phases 1–7 complete: ingestion → verified RAG → application layer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Retrieval: P@5 0.34 → 0.43 · nDCG@5 0.41 → 0.55 vs baseline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Grounding: every answer claim verified 3-way; hallucination (2 years cataract) caught live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Evaluation: baseline vs full + 6 ablations + F1–F16 taxonomy on a frozen 45-query set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Ship: FastAPI + dependency-free chat UI, 215 offline tests, reproducible reports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486400" cy="4480560"/>
          </a:xfrm>
          <a:prstGeom prst="roundRect">
            <a:avLst/>
          </a:prstGeom>
          <a:solidFill>
            <a:srgbClr val="161B23"/>
          </a:solidFill>
          <a:ln w="12700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400" b="0">
                <a:solidFill>
                  <a:srgbClr val="E6E9EF"/>
                </a:solidFill>
                <a:latin typeface="Segoe UI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83080"/>
            <a:ext cx="5120640" cy="36576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400" b="1">
                <a:solidFill>
                  <a:srgbClr val="4F8CFF"/>
                </a:solidFill>
                <a:latin typeface="Segoe UI"/>
              </a:rPr>
              <a:t>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Phase 8 — Docker packaging + deployment configuration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Fix the root cause of inter-column table extraction (layout-aware OCR/table parser)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Multi-annotator qrels + human answer grading beyond the chunk-proxy metric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Second-pass page-level evidence budget to attack F2 (30 queries missing evidence)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E6E9EF"/>
                </a:solidFill>
                <a:latin typeface="Segoe UI"/>
              </a:rPr>
              <a:t>•  Streaming token generation for the UI; optional hosted LLM with true cost accounting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56032"/>
            <a:ext cx="7315200" cy="36576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100" b="1">
                <a:solidFill>
                  <a:srgbClr val="4F8CFF"/>
                </a:solidFill>
                <a:latin typeface="Segoe UI"/>
              </a:rPr>
              <a:t>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566928"/>
            <a:ext cx="11430000" cy="640080"/>
          </a:xfrm>
          <a:prstGeom prst="round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2800" b="1">
                <a:solidFill>
                  <a:srgbClr val="E6E9EF"/>
                </a:solidFill>
                <a:latin typeface="Segoe UI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98448"/>
            <a:ext cx="11384280" cy="15240"/>
          </a:xfrm>
          <a:prstGeom prst="rect">
            <a:avLst/>
          </a:prstGeom>
          <a:solidFill>
            <a:srgbClr val="2A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50">
                <a:solidFill>
                  <a:srgbClr val="E6E9EF"/>
                </a:solidFill>
                <a:latin typeface="Segoe UI"/>
              </a:rPr>
              <a:t>•  Lewis, P. et al. (2020). Retrieval-Augmented Generation for Knowledge-Intensive NLP Tasks. NeurIPS 33.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E6E9EF"/>
                </a:solidFill>
                <a:latin typeface="Segoe UI"/>
              </a:rPr>
              <a:t>•  Robertson, S. &amp; Zaragoza, H. (2009). The Probabilistic Relevance Framework: BM25 and Beyond. Foundations and Trends in IR.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E6E9EF"/>
                </a:solidFill>
                <a:latin typeface="Segoe UI"/>
              </a:rPr>
              <a:t>•  Reimers, N. &amp; Gurevych, I. (2019). Sentence-BERT: Sentence Embeddings using Siamese BERT-Networks. EMNLP.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E6E9EF"/>
                </a:solidFill>
                <a:latin typeface="Segoe UI"/>
              </a:rPr>
              <a:t>•  Karpukhin, V. et al. (2020). Dense Passage Retrieval for Open-Domain Question Answering. EMNLP.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E6E9EF"/>
                </a:solidFill>
                <a:latin typeface="Segoe UI"/>
              </a:rPr>
              <a:t>•  Nogueira, R. &amp; Cho, K. (2019). Passage Re-ranking with BERT.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E6E9EF"/>
                </a:solidFill>
                <a:latin typeface="Segoe UI"/>
              </a:rPr>
              <a:t>•  Yao, S. et al. (2022). ReAct: Synergizing Reasoning and Acting in Language Models. ICLR 2023.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E6E9EF"/>
                </a:solidFill>
                <a:latin typeface="Segoe UI"/>
              </a:rPr>
              <a:t>•  Insurance Policy Intelligence — Software Requirements Specification, V1 (project SRS).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E6E9EF"/>
                </a:solidFill>
                <a:latin typeface="Segoe UI"/>
              </a:rPr>
              <a:t>•  Public insurer policy wordings corpus (rag_policy_dataset/), included for research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